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gradFill rotWithShape="1">
            <a:gsLst>
              <a:gs pos="0">
                <a:srgbClr val="6366F1"/>
              </a:gs>
              <a:gs pos="100000">
                <a:srgbClr val="38BDF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8FAFC"/>
                </a:solidFill>
                <a:latin typeface="Segoe UI"/>
              </a:defRPr>
            </a:pPr>
            <a:r>
              <a:t>IntegrationOps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402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4A3B8"/>
                </a:solidFill>
                <a:latin typeface="Segoe UI Light"/>
              </a:defRPr>
            </a:pPr>
            <a:r>
              <a:t>Autonomous SAP CPI Incident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0632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8BDF8"/>
                </a:solidFill>
                <a:latin typeface="Segoe UI"/>
              </a:defRPr>
            </a:pPr>
            <a:r>
              <a:t>Hackathon build · Enterprise reliability · AI-first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01 / 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gradFill rotWithShape="1">
            <a:gsLst>
              <a:gs pos="0">
                <a:srgbClr val="6366F1"/>
              </a:gs>
              <a:gs pos="100000">
                <a:srgbClr val="38BDF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Segoe UI"/>
              </a:defRPr>
            </a:pPr>
            <a: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1155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Segoe UI Light"/>
              </a:defRPr>
            </a:pPr>
            <a:r>
              <a:t>Integration failures drain time and 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070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Segoe UI"/>
              </a:defRPr>
            </a:pPr>
            <a:r>
              <a:t>SAP CPI Message Processing Logs are dense — RCA is expert-led and slow.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Segoe UI"/>
              </a:defRPr>
            </a:pPr>
            <a:r>
              <a:t>Manual correlation across MPL, design-time artifacts, and tickets is error-prone.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Segoe UI"/>
              </a:defRPr>
            </a:pPr>
            <a:r>
              <a:t>Mean time to resolve stays high when context is fragmented across tools.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02 /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gradFill rotWithShape="1">
            <a:gsLst>
              <a:gs pos="0">
                <a:srgbClr val="6366F1"/>
              </a:gs>
              <a:gs pos="100000">
                <a:srgbClr val="38BDF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Segoe UI"/>
              </a:defRPr>
            </a:pPr>
            <a: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1155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Segoe UI Light"/>
              </a:defRPr>
            </a:pPr>
            <a:r>
              <a:t>One autonomous agent, one structured 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070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Segoe UI"/>
              </a:defRPr>
            </a:pPr>
            <a:r>
              <a:t>Autonomous investigation agent — same pipeline as operator “deep dive”.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Segoe UI"/>
              </a:defRPr>
            </a:pPr>
            <a:r>
              <a:t>Pulls CPI runtime logs + iFlow metadata (OData) into a single LLM briefing.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Segoe UI"/>
              </a:defRPr>
            </a:pPr>
            <a:r>
              <a:t>Returns RCA, severity, confidence, and recommendations as enterprise JSON.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03 / 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gradFill rotWithShape="1">
            <a:gsLst>
              <a:gs pos="0">
                <a:srgbClr val="6366F1"/>
              </a:gs>
              <a:gs pos="100000">
                <a:srgbClr val="38BDF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1155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Segoe UI Light"/>
              </a:defRPr>
            </a:pPr>
            <a:r>
              <a:t>End-to-end signal → decision → action surface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1874519"/>
            <a:ext cx="1261872" cy="53035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SAP CPI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00784" y="1874519"/>
            <a:ext cx="1261872" cy="53035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API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54096" y="1874519"/>
            <a:ext cx="1261872" cy="53035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AI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874519"/>
            <a:ext cx="1261872" cy="53035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Context builder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874519"/>
            <a:ext cx="1261872" cy="53035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LLM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14032" y="1874519"/>
            <a:ext cx="1261872" cy="53035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RCA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66947" y="2670048"/>
            <a:ext cx="1691640" cy="47548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Jira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0027" y="2670048"/>
            <a:ext cx="1691640" cy="47548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Email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33107" y="2670048"/>
            <a:ext cx="1691640" cy="47548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78892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OData MPL + design-time metadata → FastAPI → run_investigation → build_context → OpenRouter (DeepSeek / fallback) → structured RCA → SQLite + mock inbox + Jira-ready fields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356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04 /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gradFill rotWithShape="1">
            <a:gsLst>
              <a:gs pos="0">
                <a:srgbClr val="6366F1"/>
              </a:gs>
              <a:gs pos="100000">
                <a:srgbClr val="38BDF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1155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Segoe UI Light"/>
              </a:defRPr>
            </a:pPr>
            <a:r>
              <a:t>Shipped in the MVP + clear hooks for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6070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  <a:latin typeface="Segoe UI"/>
              </a:defRPr>
            </a:pPr>
            <a:r>
              <a:t>◎ Real-time / scheduled CPI FAILED-MPL monitor (APScheduler) with dedupe.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  <a:latin typeface="Segoe UI"/>
              </a:defRPr>
            </a:pPr>
            <a:r>
              <a:t>◎ AI-driven RCA + confidence scoring (OpenRouter + heuristic fallback).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  <a:latin typeface="Segoe UI"/>
              </a:defRPr>
            </a:pPr>
            <a:r>
              <a:t>◎ Persisted incidents (SQLite) + observability lifecycle (LLM audit join).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  <a:latin typeface="Segoe UI"/>
              </a:defRPr>
            </a:pPr>
            <a:r>
              <a:t>◎ Jira-ready fields + mock alert inbox (email preview without SMTP).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  <a:latin typeface="Segoe UI"/>
              </a:defRPr>
            </a:pPr>
            <a:r>
              <a:t>◎ Operator dashboard + “run monitor now” for instant demos.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05 / Features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gradFill rotWithShape="1">
            <a:gsLst>
              <a:gs pos="0">
                <a:srgbClr val="6366F1"/>
              </a:gs>
              <a:gs pos="100000">
                <a:srgbClr val="38BDF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Segoe UI"/>
              </a:defRPr>
            </a:pPr>
            <a:r>
              <a:t>Live Demo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1155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Segoe UI Light"/>
              </a:defRPr>
            </a:pPr>
            <a:r>
              <a:t>What judges see in under two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  <a:latin typeface="Segoe UI"/>
              </a:defRPr>
            </a:pPr>
            <a:r>
              <a:t>① Incident detected — FAILED MPL in lookback window.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  <a:latin typeface="Segoe UI"/>
              </a:defRPr>
            </a:pPr>
            <a:r>
              <a:t>② Logs + metadata fetched — CPI OData into the agent.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  <a:latin typeface="Segoe UI"/>
              </a:defRPr>
            </a:pPr>
            <a:r>
              <a:t>③ AI analysis — LLM JSON with evidence-aligned confidence.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  <a:latin typeface="Segoe UI"/>
              </a:defRPr>
            </a:pPr>
            <a:r>
              <a:t>④ RCA generated — dashboard + mock inbox + SQLite audit trail.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  <a:latin typeface="Segoe UI"/>
              </a:defRPr>
            </a:pPr>
            <a:r>
              <a:t>⑤ Jira + email — schema-ready / mock UI today; wire to ITSM tomorrow.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06 / Demo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gradFill rotWithShape="1">
            <a:gsLst>
              <a:gs pos="0">
                <a:srgbClr val="6366F1"/>
              </a:gs>
              <a:gs pos="100000">
                <a:srgbClr val="38BDF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Segoe UI"/>
              </a:defRPr>
            </a:pPr>
            <a:r>
              <a:t>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1155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Segoe UI Light"/>
              </a:defRPr>
            </a:pPr>
            <a:r>
              <a:t>Modern, boring-in-a-good-way production defaults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106070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  <a:latin typeface="Segoe UI"/>
              </a:defRPr>
            </a:pPr>
            <a:r>
              <a:t>FastAPI · Uvicorn · Pydantic — typed APIs, OpenAPI docs, /api prefix for proxies.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  <a:latin typeface="Segoe UI"/>
              </a:defRPr>
            </a:pPr>
            <a:r>
              <a:t>React 18 + Vite + React Router — dashboard, lifecycle, mock inbox.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  <a:latin typeface="Segoe UI"/>
              </a:defRPr>
            </a:pPr>
            <a:r>
              <a:t>OpenRouter (DeepSeek + Llama fallback) — httpx, JSON-mode prompts.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  <a:latin typeface="Segoe UI"/>
              </a:defRPr>
            </a:pPr>
            <a:r>
              <a:t>SAP CPI OData (MPL + Integration Content) — mock + live paths.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  <a:latin typeface="Segoe UI"/>
              </a:defRPr>
            </a:pPr>
            <a:r>
              <a:t>Render (API) + Vercel (UI) — env-driven VITE_API_URL, CORS-ready.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07 / Stack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gradFill rotWithShape="1">
            <a:gsLst>
              <a:gs pos="0">
                <a:srgbClr val="6366F1"/>
              </a:gs>
              <a:gs pos="100000">
                <a:srgbClr val="38BDF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Segoe UI"/>
              </a:defRPr>
            </a:pPr>
            <a:r>
              <a:t>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1155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Segoe UI Light"/>
              </a:defRPr>
            </a:pPr>
            <a:r>
              <a:t>Why operators and leadership care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6070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Segoe UI"/>
              </a:defRPr>
            </a:pPr>
            <a:r>
              <a:t>↓ MTTR — first-pass triage with cited evidence, not tribal knowledge.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Segoe UI"/>
              </a:defRPr>
            </a:pPr>
            <a:r>
              <a:t>↑ Consistency — same agent steps every incident; auditable LLM exchanges.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Segoe UI"/>
              </a:defRPr>
            </a:pPr>
            <a:r>
              <a:t>↑ Reliability posture — confidence scores + severity for prioritization.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08 / Impact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gradFill rotWithShape="1">
            <a:gsLst>
              <a:gs pos="0">
                <a:srgbClr val="6366F1"/>
              </a:gs>
              <a:gs pos="100000">
                <a:srgbClr val="38BDF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Segoe UI"/>
              </a:defRPr>
            </a:pPr>
            <a:r>
              <a:t>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1155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Segoe UI Light"/>
              </a:defRPr>
            </a:pPr>
            <a:r>
              <a:t>From insight to autonomous remediation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6070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Segoe UI"/>
              </a:defRPr>
            </a:pPr>
            <a:r>
              <a:t>Auto-healing playbooks — safe rollbacks, cache clears, credential rotation hooks.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Segoe UI"/>
              </a:defRPr>
            </a:pPr>
            <a:r>
              <a:t>Event-driven remediation — CPI + ITSM webhooks feeding a closed loop.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Segoe UI"/>
              </a:defRPr>
            </a:pPr>
            <a:r>
              <a:t>Multi-system observability — extend the agent beyond CPI (IDoc, BTP, A2A).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09 / Future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gradFill rotWithShape="1">
            <a:gsLst>
              <a:gs pos="0">
                <a:srgbClr val="6366F1"/>
              </a:gs>
              <a:gs pos="100000">
                <a:srgbClr val="38BDF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488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Segoe UI"/>
              </a:defRPr>
            </a:pPr>
            <a:r>
              <a:t>IntegrationOps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9718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4A3B8"/>
                </a:solidFill>
                <a:latin typeface="Segoe UI Light"/>
              </a:defRPr>
            </a:pPr>
            <a:r>
              <a:t>Autonomous SAP CPI Incident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794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8BDF8"/>
                </a:solidFill>
                <a:latin typeface="Segoe UI"/>
              </a:defRPr>
            </a:pPr>
            <a:r>
              <a:t>Live API · Dashboard · Mock inbox · Observability drill-down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10 / Close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